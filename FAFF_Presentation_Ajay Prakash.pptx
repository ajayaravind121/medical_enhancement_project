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3" d="100"/>
          <a:sy n="103" d="100"/>
        </p:scale>
        <p:origin x="874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57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aff-adaptive-image-enhancement.streamlit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faff-adaptive-image-enhancement.streamlit.app/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faff-adaptive-image-enhancement.streamlit.app/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05840"/>
            <a:ext cx="13716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93192" y="1161288"/>
            <a:ext cx="36576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FAFF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Frequency-Aware Adaptive Filter Fusion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Iterative Quality Optimization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7498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Aravind Prakash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Computer Science  ·  University of Wisconsin–Milwaukee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CS-712 Image Processing  ·  Prof. Zeyun Yu  ·  May 2026</a:t>
            </a:r>
            <a:endParaRPr lang="en-US" sz="130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faff-adaptive-image-enhancement.streamlit.app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CS-712 Image Processing  |  UW-Milwaukee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788920" cy="3749040"/>
          </a:xfrm>
          <a:prstGeom prst="rect">
            <a:avLst/>
          </a:prstGeom>
          <a:solidFill>
            <a:srgbClr val="F4F8FB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7889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24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🩻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Images Have Noise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2606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X-rays, ultrasounds and MRIs contain sensor noise, speckle noise and motion artifacts that hide critical diagnostic details like tumor edges and vessel walls.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788920" cy="3749040"/>
          </a:xfrm>
          <a:prstGeom prst="rect">
            <a:avLst/>
          </a:prstGeom>
          <a:solidFill>
            <a:srgbClr val="F4F8FB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914400"/>
            <a:ext cx="27889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024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37560" y="15727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Filter Approaches Fail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103120"/>
            <a:ext cx="2606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destroys edges. Sharpening amplifies noise. No single filter can simultaneously denoise and preserve detail — each region needs different treatment.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914400"/>
            <a:ext cx="2788920" cy="3749040"/>
          </a:xfrm>
          <a:prstGeom prst="rect">
            <a:avLst/>
          </a:prstGeom>
          <a:solidFill>
            <a:srgbClr val="F4F8FB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914400"/>
            <a:ext cx="27889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024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09360" y="15727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Adaptive Optimization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606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use fixed globally-tuned parameters. No system automatically discovers the optimal enhancement strategy per region based on local content.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CS-712 Image Processing  |  UW-Milwaukee  |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— Step 1 &amp; 2: Patch Division + FFT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4754880" cy="4160520"/>
          </a:xfrm>
          <a:prstGeom prst="rect">
            <a:avLst/>
          </a:prstGeom>
          <a:solidFill>
            <a:srgbClr val="F4F8FB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9326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Divide Image into Patches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1887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image into 16×16 pixel blocks. Each patch is analyzed independently — allowing different treatment per region.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8928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Apply 2D FFT to Each Patch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1488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Fast Fourier Transform (Lecture 12) on each patch to convert from pixel values to frequency components.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8529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Measure Frequency Ratio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1089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ratio of high-frequency energy (edges/detail) vs low-frequency energy (smooth/background) in each patch.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8130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Classify Patch Type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0690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HFR → edge-rich region. Low HFR → smooth region. Mixed → balanced region. Each gets different starting weights.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777240"/>
            <a:ext cx="36576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822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</a:rPr>
              <a:t>Patch Classification &amp; Starting Weights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57800" y="1325880"/>
            <a:ext cx="3566160" cy="1051560"/>
          </a:xfrm>
          <a:prstGeom prst="rect">
            <a:avLst/>
          </a:prstGeom>
          <a:solidFill>
            <a:srgbClr val="F4F8FB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57800" y="1325880"/>
            <a:ext cx="64008" cy="10515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13807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High Frequency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16367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Edge-rich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rib, spine, borders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20391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Median: 15%  Gaussian: 15%  Sharpen: 70%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57800" y="2514600"/>
            <a:ext cx="3566160" cy="1051560"/>
          </a:xfrm>
          <a:prstGeom prst="rect">
            <a:avLst/>
          </a:prstGeom>
          <a:solidFill>
            <a:srgbClr val="F4F8FB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7800" y="2514600"/>
            <a:ext cx="64008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5394960" y="25694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Low Frequency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28254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region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background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32278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Median: 50%  Gaussian: 40%  Sharpen: 10%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57800" y="3703320"/>
            <a:ext cx="3566160" cy="1051560"/>
          </a:xfrm>
          <a:prstGeom prst="rect">
            <a:avLst/>
          </a:prstGeom>
          <a:solidFill>
            <a:srgbClr val="F4F8FB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57800" y="3703320"/>
            <a:ext cx="64008" cy="10515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5394960" y="37581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Mixed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401421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Mid-complexity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patterns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94960" y="44165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Median: 35%  Gaussian: 35%  Sharpen: 30%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8" name="Text 3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CS-712 Image Processing  |  UW-Milwaukee  |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— Step 3 &amp; 4: Filter Fusion + Iterative Optimization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</a:rPr>
              <a:t>Three-Filter Bank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88920" cy="1188720"/>
          </a:xfrm>
          <a:prstGeom prst="rect">
            <a:avLst/>
          </a:prstGeom>
          <a:solidFill>
            <a:srgbClr val="F4F8FB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2788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Median Filter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C2626"/>
                </a:solidFill>
              </a:rPr>
              <a:t>Noise Models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salt &amp; pepper and impulse noise while preserving edges — replaces each pixel with neighborhood median.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18688" y="1143000"/>
            <a:ext cx="2788920" cy="1188720"/>
          </a:xfrm>
          <a:prstGeom prst="rect">
            <a:avLst/>
          </a:prstGeom>
          <a:solidFill>
            <a:srgbClr val="F4F8FB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143000"/>
            <a:ext cx="278892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234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Gaussian Filter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50876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90D9"/>
                </a:solidFill>
              </a:rPr>
              <a:t> Smoothing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10128" y="17190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Low-pass filter that suppresses high-frequency Gaussian noise in smooth background regions.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143000"/>
            <a:ext cx="2788920" cy="1188720"/>
          </a:xfrm>
          <a:prstGeom prst="rect">
            <a:avLst/>
          </a:prstGeom>
          <a:solidFill>
            <a:srgbClr val="F4F8FB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3056" y="1143000"/>
            <a:ext cx="2788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1234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Unsharp Masking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54496" y="150876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C39A"/>
                </a:solidFill>
              </a:rPr>
              <a:t>Sharpening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54496" y="17190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high-frequency edge components. Subtracts blurred image from original to amplify edges.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468880"/>
            <a:ext cx="84124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468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w₁ × Median + w₂ × Gaussian + w₃ × Unsharp     where w₁ + w₂ + w₃ = 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2999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</a:rPr>
              <a:t>Iterative SSIM Optimization (Nelder-Mead)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401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37033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fusion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current weights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3886200"/>
            <a:ext cx="2468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04288" y="371246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560320" y="33832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2606040" y="3401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06040" y="37033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 SSIM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(Structural Similarity)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89120" y="3886200"/>
            <a:ext cx="2468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07408" y="371246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63440" y="33832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3401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9160" y="37033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weights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(Nelder-Mead)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92240" y="3886200"/>
            <a:ext cx="2468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371246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766560" y="33832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6812280" y="3401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12280" y="37033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Converged?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final weights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0" y="4389120"/>
            <a:ext cx="0" cy="32004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4709160"/>
            <a:ext cx="420624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92240" y="4389120"/>
            <a:ext cx="0" cy="32004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0" y="4681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97706"/>
                </a:solidFill>
              </a:rPr>
              <a:t>Repeat until SSIM stops improving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5" name="Text 4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CS-712 Image Processing  |  UW-Milwaukee  |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FAFF — Complete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685800" cy="6858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" y="21488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Image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60120" y="1709928"/>
            <a:ext cx="2468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3716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4712" y="21488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16×16 Patches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1709928"/>
            <a:ext cx="2468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13716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84832" y="21488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Frequency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80360" y="1709928"/>
            <a:ext cx="2468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1371600"/>
            <a:ext cx="685800" cy="6858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315468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44952" y="21488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Type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1709928"/>
            <a:ext cx="2468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371600"/>
            <a:ext cx="685800" cy="6858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05072" y="21488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Content-Aware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1709928"/>
            <a:ext cx="2468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13716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65192" y="21488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60720" y="1709928"/>
            <a:ext cx="2468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1371600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925312" y="21488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20840" y="1709928"/>
            <a:ext cx="2468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95160" y="137160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699516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85432" y="21488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Image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680960" y="1709928"/>
            <a:ext cx="2468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55280" y="137160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795528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9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845552" y="21488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2926080"/>
            <a:ext cx="8412480" cy="1737360"/>
          </a:xfrm>
          <a:prstGeom prst="rect">
            <a:avLst/>
          </a:prstGeom>
          <a:solidFill>
            <a:srgbClr val="12243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2926080"/>
            <a:ext cx="73152" cy="1737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29992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🔑  FAFF Innovation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3364992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•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4360" y="33649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FFT per patch — 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94560" y="33649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frequency content of each region — not the whole image at once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3712464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• 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4360" y="37124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Content-aware weights — 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194560" y="371246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derives starting weights from local patch statistics (variance, edge strength, frequency ratio)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4059936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• 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4360" y="405993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Iterative optimization — 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194560" y="405993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Nelder-Mead optimizer maximizes SSIM quality score per patch — no manual weight tuning needed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1" name="Text 4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CS-712 Image Processing  |  UW-Milwaukee  | 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FAFF Web Application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40080"/>
            <a:ext cx="4297680" cy="2286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640080"/>
            <a:ext cx="4297680" cy="2286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2880" y="29443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Upload &amp; Noise Detection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663440" y="29443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Optimization Results — Weights &amp; Heatmap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82880" y="329184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</a:t>
            </a:r>
            <a:r>
              <a:rPr lang="en-US" sz="11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auto-detects noise type (Gaussian/Salt &amp; Pepper) and level from the real image. No manual settings needed.  </a:t>
            </a: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</a:t>
            </a:r>
            <a:r>
              <a:rPr lang="en-US" sz="11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processing, shows average filter weights used across all patches and SSIM improvement heatmap per patch.</a:t>
            </a:r>
            <a:endParaRPr lang="en-US" sz="1100" dirty="0"/>
          </a:p>
        </p:txBody>
      </p:sp>
      <p:sp>
        <p:nvSpPr>
          <p:cNvPr id="8" name="Text 4">
            <a:hlinkClick r:id="rId5"/>
          </p:cNvPr>
          <p:cNvSpPr/>
          <p:nvPr/>
        </p:nvSpPr>
        <p:spPr>
          <a:xfrm>
            <a:off x="182880" y="406908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02C39A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faff-adaptive-image-enhancement.streamlit.app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CS-712 Image Processing  |  UW-Milwaukee  | 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Results &amp; Comparison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40080"/>
            <a:ext cx="4297680" cy="2286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640080"/>
            <a:ext cx="4297680" cy="2286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2880" y="29443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Noisy vs FAFF Enhanced + Baselines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663440" y="29443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Histogram Comparison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82880" y="329184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</a:t>
            </a:r>
            <a:r>
              <a:rPr lang="en-US" sz="11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FAFF output vs 4 baseline methods from course lectures (Lec 13, 14, 15, 19).  </a:t>
            </a: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</a:t>
            </a:r>
            <a:r>
              <a:rPr lang="en-US" sz="1100" dirty="0">
                <a:solidFill>
                  <a:srgbClr val="AA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shows FAFF produces smoother, wider distribution — less noise spikes, better contrast.</a:t>
            </a:r>
            <a:endParaRPr lang="en-US" sz="1100" dirty="0"/>
          </a:p>
        </p:txBody>
      </p:sp>
      <p:sp>
        <p:nvSpPr>
          <p:cNvPr id="8" name="Text 4">
            <a:hlinkClick r:id="rId5"/>
          </p:cNvPr>
          <p:cNvSpPr/>
          <p:nvPr/>
        </p:nvSpPr>
        <p:spPr>
          <a:xfrm>
            <a:off x="182880" y="406908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02C39A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faff-adaptive-image-enhancement.streamlit.app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CS-712 Image Processing  |  UW-Milwaukee  | 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4114800" cy="3886200"/>
          </a:xfrm>
          <a:prstGeom prst="rect">
            <a:avLst/>
          </a:prstGeom>
          <a:solidFill>
            <a:srgbClr val="F4F8FB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What FAFF Discovered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749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3560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</a:rPr>
              <a:t>53%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17320" y="1399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Gaussian Smoothing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691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weight — image has significant low-frequency noise in lung regions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3749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48716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</a:rPr>
              <a:t>40%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17320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Unsharp Masking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weight — rib and bone edges need significant sharpening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3749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53872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</a:rPr>
              <a:t>7%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417320" y="35021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Median Denoising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3794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weight — minimal isolated pixel noise detected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777240"/>
            <a:ext cx="4297680" cy="3886200"/>
          </a:xfrm>
          <a:prstGeom prst="rect">
            <a:avLst/>
          </a:prstGeom>
          <a:solidFill>
            <a:srgbClr val="F4F8FB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Visual Improvements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4904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2080" y="13807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Noise Reduction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16733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grain in lung background significantly reduced — cleaner tissue visualization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167128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331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12080" y="22219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Edge Preservation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514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 and spine boundaries remain sharp — critical for clinical assessment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008376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1729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1208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Detail Enhancement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33558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vessel patterns in lung tissue enhanced — improved diagnostic visibility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849624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401421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12080" y="39044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Histogram Spread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41970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distribution wider and smoother — better contrast across intensity range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6" name="Text 3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CS-712 Image Processing  |  UW-Milwaukee  | 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Real-World Applications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4114800" cy="3886200"/>
          </a:xfrm>
          <a:prstGeom prst="rect">
            <a:avLst/>
          </a:prstGeom>
          <a:solidFill>
            <a:srgbClr val="F4F8FB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77240"/>
            <a:ext cx="411480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046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🔭  Algorithm Enhancements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3441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Deep Learning Hybrid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6184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Nelder-Mead optimizer with a lightweight CNN that predicts optimal weights in a single forward pass — 10× faster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4825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0939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3D Medical Volumes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36829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MRI/CT scans — apply FFT analysis across depth slices for volumetric enhancement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798064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28437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GPU Acceleration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11810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patch processing using CUDA — enable real-time clinical 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547872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35935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Disease-Specific Tuning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8679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separate weight predictors for TB detection, breast cancer screening, pneumonia classification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777240"/>
            <a:ext cx="4297680" cy="3886200"/>
          </a:xfrm>
          <a:prstGeom prst="rect">
            <a:avLst/>
          </a:prstGeom>
          <a:solidFill>
            <a:srgbClr val="F4F8FB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777240"/>
            <a:ext cx="429768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80467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🌍  Real-World Applications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1298448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🏨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120640" y="1344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Hospital PACS Plugin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16184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Auto-enhance every X-ray before radiologist review — seamless clinical workflow integration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04825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120640" y="20939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Portable Ultrasound Devices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23682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chip implementation for rural clinic low-cost portable scanners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2798064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120640" y="28437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Telemedicine Platforms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31181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quality of compressed images sent over low-bandwidth internet connections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3547872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120640" y="3593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AI Diagnostic Pipeline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38679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enhanced images → higher accuracy for AI cancer detection and classification models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4" name="Text 3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CS-712 Image Processing  |  UW-Milwaukee  | 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530352"/>
          </a:xfrm>
          <a:prstGeom prst="rect">
            <a:avLst/>
          </a:prstGeom>
          <a:solidFill>
            <a:srgbClr val="122438"/>
          </a:solidFill>
          <a:ln w="6350">
            <a:solidFill>
              <a:srgbClr val="1C3A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024128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04241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FAFF — a novel Frequency-Aware Adaptive Filter Fusion system for medical image enhancement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7680960" cy="530352"/>
          </a:xfrm>
          <a:prstGeom prst="rect">
            <a:avLst/>
          </a:prstGeom>
          <a:solidFill>
            <a:srgbClr val="122438"/>
          </a:solidFill>
          <a:ln w="6350">
            <a:solidFill>
              <a:srgbClr val="1C3A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618488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63677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FFT-based patch analysis classifies each region as high/low/mixed frequency before filtering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7680960" cy="530352"/>
          </a:xfrm>
          <a:prstGeom prst="rect">
            <a:avLst/>
          </a:prstGeom>
          <a:solidFill>
            <a:srgbClr val="122438"/>
          </a:solidFill>
          <a:ln w="6350">
            <a:solidFill>
              <a:srgbClr val="1C3A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2212848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🎛️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23113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Content-aware weight initialization derived from local statistics — no manual tuning required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7680960" cy="530352"/>
          </a:xfrm>
          <a:prstGeom prst="rect">
            <a:avLst/>
          </a:prstGeom>
          <a:solidFill>
            <a:srgbClr val="122438"/>
          </a:solidFill>
          <a:ln w="6350">
            <a:solidFill>
              <a:srgbClr val="1C3A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2960" y="2807208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82549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Nelder-Mead optimization maximizes SSIM quality score per patch automatically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7680960" cy="530352"/>
          </a:xfrm>
          <a:prstGeom prst="rect">
            <a:avLst/>
          </a:prstGeom>
          <a:solidFill>
            <a:srgbClr val="122438"/>
          </a:solidFill>
          <a:ln w="6350">
            <a:solidFill>
              <a:srgbClr val="1C3A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3401568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41985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baseline methods directly from course lectures 12, 13, 14, 15, 19 — grounded in taught material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977640"/>
            <a:ext cx="7680960" cy="530352"/>
          </a:xfrm>
          <a:prstGeom prst="rect">
            <a:avLst/>
          </a:prstGeom>
          <a:solidFill>
            <a:srgbClr val="122438"/>
          </a:solidFill>
          <a:ln w="6350">
            <a:solidFill>
              <a:srgbClr val="1C3A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22960" y="3995928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401421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live web application with real-time noise detection and visual analytics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CS-712 Image Processing  |  UW-Milwaukee  | 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8412480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3210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Gonzalez, R.C. &amp; Woods, R.E. (2018). Digital Image Processing, 4th Edition. Pearson. [Course Textbook]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271016"/>
            <a:ext cx="8412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Wang, Z. et al. (2004). Image Quality Assessment: From Error Visibility to Structural Similarity. IEEE Trans. Image Processing, 13(4), 600–612.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764792"/>
            <a:ext cx="8412480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196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Tomasi, C. &amp; Manduchi, R. (1998). Bilateral Filtering for Gray and Color Images. ICCV, 839–846.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258568"/>
            <a:ext cx="8412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13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Polesel, A. et al. (2000). Image Enhancement via Adaptive Unsharp Masking. IEEE Trans. Image Processing, 9(3), 505–510.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752344"/>
            <a:ext cx="8412480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8072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Virtanen, P. et al. (2020). SciPy 1.0: Fundamental Algorithms for Scientific Computing in Python. Nature Methods, 17, 261–272.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246120"/>
            <a:ext cx="8412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30098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Al-Dhabyani, W. et al. (2020). Dataset of Breast Ultrasound Images (BUSI). Data in Brief, 28, 104863.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39896"/>
            <a:ext cx="8412480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794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Nelder, J.A. &amp; Mead, R. (1965). A Simplex Method for Function Minimization. Computer Journal, 7(4), 308–313.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233672"/>
            <a:ext cx="8412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2885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Burt, P.J. &amp; Adelson, E.H. (1983). The Laplacian Pyramid as a Compact Image Code. IEEE Trans. Communications, 31(4), 532–540.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CS-712 Image Processing  |  UW-Milwaukee  | 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2C39A"/>
                </a:solidFill>
                <a:latin typeface="Calibri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AACDE0"/>
                </a:solidFill>
                <a:latin typeface="Calibri"/>
              </a:rPr>
              <a:t>Frequency-Aware Adaptive Filter Fusion (FAFF)
for Adaptive Medical Image Enhancement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Any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2C39A"/>
                </a:solidFill>
                <a:latin typeface="Calibri"/>
              </a:rPr>
              <a:t>faff-adaptive-image-enhancement.streamlit.app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Ajay Aravind Prakash  |  CS-712 Image Processing  |  UWM  |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846320"/>
            <a:ext cx="9144000" cy="320040"/>
          </a:xfrm>
          <a:prstGeom prst="rect">
            <a:avLst/>
          </a:prstGeom>
          <a:solidFill>
            <a:srgbClr val="21295C"/>
          </a:solidFill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02C39A"/>
                </a:solidFill>
                <a:latin typeface="Calibri"/>
              </a:rPr>
              <a:t>CS-712 Image Processing  |  UW-Milwaukee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1390</Words>
  <Application>Microsoft Office PowerPoint</Application>
  <PresentationFormat>On-screen Show (16:9)</PresentationFormat>
  <Paragraphs>221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FAFF - Adaptive Medical Image Enhancement</dc:title>
  <dc:subject>PptxGenJS Presentation</dc:subject>
  <dc:creator>Ajay Aravind Prakash</dc:creator>
  <cp:lastModifiedBy>Ajay Aravind</cp:lastModifiedBy>
  <cp:revision>4</cp:revision>
  <dcterms:created xsi:type="dcterms:W3CDTF">2026-05-07T06:28:50Z</dcterms:created>
  <dcterms:modified xsi:type="dcterms:W3CDTF">2026-05-12T20:02:01Z</dcterms:modified>
</cp:coreProperties>
</file>